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48FBC6C-8D02-4F77-9B87-3DCA60F2C28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BF63FD-179D-4FAA-AFB9-9018C010AA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64395C-C0A7-4C8E-91EA-B21718E7B9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3B43BA-F407-4EAC-88C3-E33050E799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9A4CAE-8AC1-41FE-8296-3984D4C8EF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95EC0E-3117-40DE-A76E-FA251946B0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AC757E-69E4-452C-B8D8-34D46542D5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EE7919-3337-4B00-9C48-5AF007381F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89DD88-E790-4B49-A96E-B22D5F567A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0DD388-BF61-4B57-8DE6-B6E00F07E4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F1C48D-5573-41F5-B6F0-614D3F2123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09A6A1-CA5D-49EC-865B-CEF467966C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0AA220-DD69-43FE-92BE-E33FD941964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2"/>
          <p:cNvSpPr/>
          <p:nvPr/>
        </p:nvSpPr>
        <p:spPr>
          <a:xfrm>
            <a:off x="822960" y="1920240"/>
            <a:ext cx="105152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2514600" y="3063600"/>
            <a:ext cx="74977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Navigate your career path with AI precision.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822960" y="4709160"/>
            <a:ext cx="1737000" cy="456840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822960" y="47091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Roadmaps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2724840" y="4709160"/>
            <a:ext cx="1737000" cy="456840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2724840" y="47091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Scheduling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626720" y="4709160"/>
            <a:ext cx="1737000" cy="456840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4626720" y="47091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Gamification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6528960" y="4709160"/>
            <a:ext cx="1737000" cy="456840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6528960" y="47091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ATS Score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8430840" y="4709160"/>
            <a:ext cx="1737000" cy="456840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8430840" y="47091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Interview AI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10332720" y="4709160"/>
            <a:ext cx="1737000" cy="456840"/>
          </a:xfrm>
          <a:prstGeom prst="roundRect">
            <a:avLst>
              <a:gd name="adj" fmla="val 16000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10332720" y="470916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Leaderboards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54864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1109448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" name="Image 0" descr="/home/claude/deck/icons/LuCompass-white.png"/>
          <p:cNvPicPr/>
          <p:nvPr/>
        </p:nvPicPr>
        <p:blipFill>
          <a:blip r:embed="rId1"/>
          <a:stretch/>
        </p:blipFill>
        <p:spPr>
          <a:xfrm>
            <a:off x="5486400" y="137160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"/>
          <p:cNvSpPr txBox="1"/>
          <p:nvPr/>
        </p:nvSpPr>
        <p:spPr>
          <a:xfrm>
            <a:off x="3886200" y="3853440"/>
            <a:ext cx="4631400" cy="261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1" u="none" spc="201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AI-POWERED CAREER NAVIGATION PLATFORM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548640" y="457200"/>
            <a:ext cx="2377080" cy="36540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548640" y="457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THE PROBLEM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548640" y="96012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Job seekers face more than a skills gap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548640" y="169164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Finding a job today is a long journey, and most candidates struggle at every stage of it.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4"/>
          <p:cNvSpPr/>
          <p:nvPr/>
        </p:nvSpPr>
        <p:spPr>
          <a:xfrm>
            <a:off x="548640" y="2331720"/>
            <a:ext cx="3520080" cy="169128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5"/>
          <p:cNvSpPr/>
          <p:nvPr/>
        </p:nvSpPr>
        <p:spPr>
          <a:xfrm>
            <a:off x="777240" y="2560320"/>
            <a:ext cx="383760" cy="38376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6"/>
          <p:cNvSpPr/>
          <p:nvPr/>
        </p:nvSpPr>
        <p:spPr>
          <a:xfrm>
            <a:off x="777240" y="2560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777240" y="30448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No clear skill picture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777240" y="338328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Users don't know their real skill level or how it compares to what employers want.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9"/>
          <p:cNvSpPr/>
          <p:nvPr/>
        </p:nvSpPr>
        <p:spPr>
          <a:xfrm>
            <a:off x="4297680" y="2331720"/>
            <a:ext cx="3520080" cy="169128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0"/>
          <p:cNvSpPr/>
          <p:nvPr/>
        </p:nvSpPr>
        <p:spPr>
          <a:xfrm>
            <a:off x="4526280" y="2560320"/>
            <a:ext cx="383760" cy="38376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1"/>
          <p:cNvSpPr/>
          <p:nvPr/>
        </p:nvSpPr>
        <p:spPr>
          <a:xfrm>
            <a:off x="4526280" y="2560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2"/>
          <p:cNvSpPr/>
          <p:nvPr/>
        </p:nvSpPr>
        <p:spPr>
          <a:xfrm>
            <a:off x="4526280" y="30448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Unclear roadmap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3"/>
          <p:cNvSpPr/>
          <p:nvPr/>
        </p:nvSpPr>
        <p:spPr>
          <a:xfrm>
            <a:off x="4526280" y="338328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No structured, personalized plan connecting today's skills to a target career.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4"/>
          <p:cNvSpPr/>
          <p:nvPr/>
        </p:nvSpPr>
        <p:spPr>
          <a:xfrm>
            <a:off x="8046720" y="2331720"/>
            <a:ext cx="3520080" cy="169128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5"/>
          <p:cNvSpPr/>
          <p:nvPr/>
        </p:nvSpPr>
        <p:spPr>
          <a:xfrm>
            <a:off x="8275320" y="2560320"/>
            <a:ext cx="383760" cy="38376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6"/>
          <p:cNvSpPr/>
          <p:nvPr/>
        </p:nvSpPr>
        <p:spPr>
          <a:xfrm>
            <a:off x="8275320" y="2560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7"/>
          <p:cNvSpPr/>
          <p:nvPr/>
        </p:nvSpPr>
        <p:spPr>
          <a:xfrm>
            <a:off x="8275320" y="30448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Inconsistent studying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8"/>
          <p:cNvSpPr/>
          <p:nvPr/>
        </p:nvSpPr>
        <p:spPr>
          <a:xfrm>
            <a:off x="8275320" y="338328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Without a schedule or accountability, learning plans get abandoned.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9"/>
          <p:cNvSpPr/>
          <p:nvPr/>
        </p:nvSpPr>
        <p:spPr>
          <a:xfrm>
            <a:off x="548640" y="4251960"/>
            <a:ext cx="3520080" cy="169128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0"/>
          <p:cNvSpPr/>
          <p:nvPr/>
        </p:nvSpPr>
        <p:spPr>
          <a:xfrm>
            <a:off x="777240" y="4480560"/>
            <a:ext cx="383760" cy="38376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1"/>
          <p:cNvSpPr/>
          <p:nvPr/>
        </p:nvSpPr>
        <p:spPr>
          <a:xfrm>
            <a:off x="777240" y="4480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2"/>
          <p:cNvSpPr/>
          <p:nvPr/>
        </p:nvSpPr>
        <p:spPr>
          <a:xfrm>
            <a:off x="777240" y="496512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CVs fail ATS screening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3"/>
          <p:cNvSpPr/>
          <p:nvPr/>
        </p:nvSpPr>
        <p:spPr>
          <a:xfrm>
            <a:off x="777240" y="530352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Strong candidates get filtered out before a recruiter ever sees their CV.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4"/>
          <p:cNvSpPr/>
          <p:nvPr/>
        </p:nvSpPr>
        <p:spPr>
          <a:xfrm>
            <a:off x="4297680" y="4251960"/>
            <a:ext cx="3520080" cy="169128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5"/>
          <p:cNvSpPr/>
          <p:nvPr/>
        </p:nvSpPr>
        <p:spPr>
          <a:xfrm>
            <a:off x="4526280" y="4480560"/>
            <a:ext cx="383760" cy="38376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6"/>
          <p:cNvSpPr/>
          <p:nvPr/>
        </p:nvSpPr>
        <p:spPr>
          <a:xfrm>
            <a:off x="4526280" y="4480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7"/>
          <p:cNvSpPr/>
          <p:nvPr/>
        </p:nvSpPr>
        <p:spPr>
          <a:xfrm>
            <a:off x="4526280" y="496512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Silent rejections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8"/>
          <p:cNvSpPr/>
          <p:nvPr/>
        </p:nvSpPr>
        <p:spPr>
          <a:xfrm>
            <a:off x="4526280" y="530352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Applicants are rejected with no idea which requirements they were missing.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9"/>
          <p:cNvSpPr/>
          <p:nvPr/>
        </p:nvSpPr>
        <p:spPr>
          <a:xfrm>
            <a:off x="8046720" y="4251960"/>
            <a:ext cx="3520080" cy="1691280"/>
          </a:xfrm>
          <a:prstGeom prst="roundRect">
            <a:avLst>
              <a:gd name="adj" fmla="val 4324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30"/>
          <p:cNvSpPr/>
          <p:nvPr/>
        </p:nvSpPr>
        <p:spPr>
          <a:xfrm>
            <a:off x="8275320" y="4480560"/>
            <a:ext cx="383760" cy="38376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1"/>
          <p:cNvSpPr/>
          <p:nvPr/>
        </p:nvSpPr>
        <p:spPr>
          <a:xfrm>
            <a:off x="8275320" y="4480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2"/>
          <p:cNvSpPr/>
          <p:nvPr/>
        </p:nvSpPr>
        <p:spPr>
          <a:xfrm>
            <a:off x="8275320" y="496512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No interview practice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3"/>
          <p:cNvSpPr/>
          <p:nvPr/>
        </p:nvSpPr>
        <p:spPr>
          <a:xfrm>
            <a:off x="8275320" y="530352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Little chance to rehearse real interview questions before it counts.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4"/>
          <p:cNvSpPr/>
          <p:nvPr/>
        </p:nvSpPr>
        <p:spPr>
          <a:xfrm>
            <a:off x="54864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5"/>
          <p:cNvSpPr/>
          <p:nvPr/>
        </p:nvSpPr>
        <p:spPr>
          <a:xfrm>
            <a:off x="1109448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548640" y="457200"/>
            <a:ext cx="2377080" cy="36540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548640" y="457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THE SOLUTION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548640" y="96012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CareerGPS: your AI career mentor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548640" y="1691640"/>
            <a:ext cx="55774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One connected platform guides users from their current position to their dream career — instead of teaching skills in isolation, CareerGPS builds the entire journey.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4"/>
          <p:cNvSpPr/>
          <p:nvPr/>
        </p:nvSpPr>
        <p:spPr>
          <a:xfrm>
            <a:off x="548640" y="3017520"/>
            <a:ext cx="292320" cy="29232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548640" y="30175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6"/>
          <p:cNvSpPr/>
          <p:nvPr/>
        </p:nvSpPr>
        <p:spPr>
          <a:xfrm>
            <a:off x="1005840" y="2990160"/>
            <a:ext cx="5120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Reads current skills from GitHub and CV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7"/>
          <p:cNvSpPr/>
          <p:nvPr/>
        </p:nvSpPr>
        <p:spPr>
          <a:xfrm>
            <a:off x="548640" y="3474720"/>
            <a:ext cx="292320" cy="29232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8"/>
          <p:cNvSpPr/>
          <p:nvPr/>
        </p:nvSpPr>
        <p:spPr>
          <a:xfrm>
            <a:off x="548640" y="34747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9"/>
          <p:cNvSpPr/>
          <p:nvPr/>
        </p:nvSpPr>
        <p:spPr>
          <a:xfrm>
            <a:off x="1005840" y="3447360"/>
            <a:ext cx="5120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Finds the missing skills for the chosen career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0"/>
          <p:cNvSpPr/>
          <p:nvPr/>
        </p:nvSpPr>
        <p:spPr>
          <a:xfrm>
            <a:off x="548640" y="3931920"/>
            <a:ext cx="292320" cy="29232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1"/>
          <p:cNvSpPr/>
          <p:nvPr/>
        </p:nvSpPr>
        <p:spPr>
          <a:xfrm>
            <a:off x="548640" y="39319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2"/>
          <p:cNvSpPr/>
          <p:nvPr/>
        </p:nvSpPr>
        <p:spPr>
          <a:xfrm>
            <a:off x="1005840" y="3904560"/>
            <a:ext cx="5120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Builds a personalized learning roadmap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3"/>
          <p:cNvSpPr/>
          <p:nvPr/>
        </p:nvSpPr>
        <p:spPr>
          <a:xfrm>
            <a:off x="548640" y="4389120"/>
            <a:ext cx="292320" cy="29232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4"/>
          <p:cNvSpPr/>
          <p:nvPr/>
        </p:nvSpPr>
        <p:spPr>
          <a:xfrm>
            <a:off x="548640" y="43891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5"/>
          <p:cNvSpPr/>
          <p:nvPr/>
        </p:nvSpPr>
        <p:spPr>
          <a:xfrm>
            <a:off x="1005840" y="4361760"/>
            <a:ext cx="5120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Keeps users consistent with scheduling &amp; gamification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6"/>
          <p:cNvSpPr/>
          <p:nvPr/>
        </p:nvSpPr>
        <p:spPr>
          <a:xfrm>
            <a:off x="548640" y="4846320"/>
            <a:ext cx="292320" cy="29232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7"/>
          <p:cNvSpPr/>
          <p:nvPr/>
        </p:nvSpPr>
        <p:spPr>
          <a:xfrm>
            <a:off x="548640" y="48463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8"/>
          <p:cNvSpPr/>
          <p:nvPr/>
        </p:nvSpPr>
        <p:spPr>
          <a:xfrm>
            <a:off x="1005840" y="4818960"/>
            <a:ext cx="5120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Optimizes the CV for ATS systems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9"/>
          <p:cNvSpPr/>
          <p:nvPr/>
        </p:nvSpPr>
        <p:spPr>
          <a:xfrm>
            <a:off x="548640" y="5303520"/>
            <a:ext cx="292320" cy="29232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0"/>
          <p:cNvSpPr/>
          <p:nvPr/>
        </p:nvSpPr>
        <p:spPr>
          <a:xfrm>
            <a:off x="548640" y="53035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1"/>
          <p:cNvSpPr/>
          <p:nvPr/>
        </p:nvSpPr>
        <p:spPr>
          <a:xfrm>
            <a:off x="1005840" y="5276160"/>
            <a:ext cx="5120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Matches the CV against real job descriptions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2"/>
          <p:cNvSpPr/>
          <p:nvPr/>
        </p:nvSpPr>
        <p:spPr>
          <a:xfrm>
            <a:off x="548640" y="5760720"/>
            <a:ext cx="292320" cy="29232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3"/>
          <p:cNvSpPr/>
          <p:nvPr/>
        </p:nvSpPr>
        <p:spPr>
          <a:xfrm>
            <a:off x="548640" y="57607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4"/>
          <p:cNvSpPr/>
          <p:nvPr/>
        </p:nvSpPr>
        <p:spPr>
          <a:xfrm>
            <a:off x="1005840" y="5733360"/>
            <a:ext cx="5120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Prepares users with AI interview simulations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5"/>
          <p:cNvSpPr/>
          <p:nvPr/>
        </p:nvSpPr>
        <p:spPr>
          <a:xfrm>
            <a:off x="6492240" y="960120"/>
            <a:ext cx="5120280" cy="5394600"/>
          </a:xfrm>
          <a:prstGeom prst="roundRect">
            <a:avLst>
              <a:gd name="adj" fmla="val 1786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6"/>
          <p:cNvSpPr/>
          <p:nvPr/>
        </p:nvSpPr>
        <p:spPr>
          <a:xfrm>
            <a:off x="6858000" y="1417320"/>
            <a:ext cx="4388760" cy="6580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7"/>
          <p:cNvSpPr/>
          <p:nvPr/>
        </p:nvSpPr>
        <p:spPr>
          <a:xfrm>
            <a:off x="7086600" y="1417320"/>
            <a:ext cx="3931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GitHub + CV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8"/>
          <p:cNvSpPr/>
          <p:nvPr/>
        </p:nvSpPr>
        <p:spPr>
          <a:xfrm>
            <a:off x="8869680" y="19843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9"/>
          <p:cNvSpPr/>
          <p:nvPr/>
        </p:nvSpPr>
        <p:spPr>
          <a:xfrm>
            <a:off x="6858000" y="2350080"/>
            <a:ext cx="4388760" cy="6580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0"/>
          <p:cNvSpPr/>
          <p:nvPr/>
        </p:nvSpPr>
        <p:spPr>
          <a:xfrm>
            <a:off x="7086600" y="2350080"/>
            <a:ext cx="3931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Skill Gaps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1"/>
          <p:cNvSpPr/>
          <p:nvPr/>
        </p:nvSpPr>
        <p:spPr>
          <a:xfrm>
            <a:off x="8869680" y="29170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32"/>
          <p:cNvSpPr/>
          <p:nvPr/>
        </p:nvSpPr>
        <p:spPr>
          <a:xfrm>
            <a:off x="6858000" y="3282840"/>
            <a:ext cx="4388760" cy="6580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3"/>
          <p:cNvSpPr/>
          <p:nvPr/>
        </p:nvSpPr>
        <p:spPr>
          <a:xfrm>
            <a:off x="7086600" y="3282840"/>
            <a:ext cx="3931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Roadmap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4"/>
          <p:cNvSpPr/>
          <p:nvPr/>
        </p:nvSpPr>
        <p:spPr>
          <a:xfrm>
            <a:off x="8869680" y="384948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5"/>
          <p:cNvSpPr/>
          <p:nvPr/>
        </p:nvSpPr>
        <p:spPr>
          <a:xfrm>
            <a:off x="6858000" y="4215240"/>
            <a:ext cx="4388760" cy="6580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6"/>
          <p:cNvSpPr/>
          <p:nvPr/>
        </p:nvSpPr>
        <p:spPr>
          <a:xfrm>
            <a:off x="7086600" y="4215240"/>
            <a:ext cx="3931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Consistency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7"/>
          <p:cNvSpPr/>
          <p:nvPr/>
        </p:nvSpPr>
        <p:spPr>
          <a:xfrm>
            <a:off x="8869680" y="478224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8"/>
          <p:cNvSpPr/>
          <p:nvPr/>
        </p:nvSpPr>
        <p:spPr>
          <a:xfrm>
            <a:off x="6858000" y="5148000"/>
            <a:ext cx="4388760" cy="6580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9"/>
          <p:cNvSpPr/>
          <p:nvPr/>
        </p:nvSpPr>
        <p:spPr>
          <a:xfrm>
            <a:off x="7086600" y="5148000"/>
            <a:ext cx="3931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Job Ready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40"/>
          <p:cNvSpPr/>
          <p:nvPr/>
        </p:nvSpPr>
        <p:spPr>
          <a:xfrm>
            <a:off x="54864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41"/>
          <p:cNvSpPr/>
          <p:nvPr/>
        </p:nvSpPr>
        <p:spPr>
          <a:xfrm>
            <a:off x="1109448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0"/>
          <p:cNvSpPr/>
          <p:nvPr/>
        </p:nvSpPr>
        <p:spPr>
          <a:xfrm>
            <a:off x="548640" y="457200"/>
            <a:ext cx="2377080" cy="36540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548640" y="457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FEATURE 01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"/>
          <p:cNvSpPr/>
          <p:nvPr/>
        </p:nvSpPr>
        <p:spPr>
          <a:xfrm>
            <a:off x="548640" y="9601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AI personalized learning roadmap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"/>
          <p:cNvSpPr/>
          <p:nvPr/>
        </p:nvSpPr>
        <p:spPr>
          <a:xfrm>
            <a:off x="548640" y="1645920"/>
            <a:ext cx="5486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CareerGPS builds a roadmap unique to every user, starting with an honest picture of what they already know.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4"/>
          <p:cNvSpPr/>
          <p:nvPr/>
        </p:nvSpPr>
        <p:spPr>
          <a:xfrm>
            <a:off x="548640" y="2514600"/>
            <a:ext cx="5486040" cy="117000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777240" y="262440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Skill assessment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6"/>
          <p:cNvSpPr/>
          <p:nvPr/>
        </p:nvSpPr>
        <p:spPr>
          <a:xfrm>
            <a:off x="777240" y="2953440"/>
            <a:ext cx="502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Extracts skills from GitHub projects and the uploaded CV, then scores every skill, plus an activity score and an overall readiness score.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7"/>
          <p:cNvSpPr/>
          <p:nvPr/>
        </p:nvSpPr>
        <p:spPr>
          <a:xfrm>
            <a:off x="548640" y="3840480"/>
            <a:ext cx="5486040" cy="117000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8"/>
          <p:cNvSpPr/>
          <p:nvPr/>
        </p:nvSpPr>
        <p:spPr>
          <a:xfrm>
            <a:off x="777240" y="395028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Gap detection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9"/>
          <p:cNvSpPr/>
          <p:nvPr/>
        </p:nvSpPr>
        <p:spPr>
          <a:xfrm>
            <a:off x="777240" y="4279320"/>
            <a:ext cx="502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Compares assessed skills against the chosen career to find exactly which skills are missing.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0"/>
          <p:cNvSpPr/>
          <p:nvPr/>
        </p:nvSpPr>
        <p:spPr>
          <a:xfrm>
            <a:off x="548640" y="5166360"/>
            <a:ext cx="5486040" cy="1170000"/>
          </a:xfrm>
          <a:prstGeom prst="roundRect">
            <a:avLst>
              <a:gd name="adj" fmla="val 6250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1"/>
          <p:cNvSpPr/>
          <p:nvPr/>
        </p:nvSpPr>
        <p:spPr>
          <a:xfrm>
            <a:off x="777240" y="527616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Smart roadmap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2"/>
          <p:cNvSpPr/>
          <p:nvPr/>
        </p:nvSpPr>
        <p:spPr>
          <a:xfrm>
            <a:off x="777240" y="5605200"/>
            <a:ext cx="5028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Generates a roadmap containing only the curricula needed to close those gaps — nothing redundant.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3"/>
          <p:cNvSpPr/>
          <p:nvPr/>
        </p:nvSpPr>
        <p:spPr>
          <a:xfrm>
            <a:off x="6858000" y="1234800"/>
            <a:ext cx="5120280" cy="5394600"/>
          </a:xfrm>
          <a:prstGeom prst="roundRect">
            <a:avLst>
              <a:gd name="adj" fmla="val 1786"/>
            </a:avLst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4"/>
          <p:cNvSpPr/>
          <p:nvPr/>
        </p:nvSpPr>
        <p:spPr>
          <a:xfrm>
            <a:off x="6858000" y="123444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Roadmap structure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5"/>
          <p:cNvSpPr/>
          <p:nvPr/>
        </p:nvSpPr>
        <p:spPr>
          <a:xfrm>
            <a:off x="6858000" y="1828800"/>
            <a:ext cx="4388760" cy="1051200"/>
          </a:xfrm>
          <a:prstGeom prst="roundRect">
            <a:avLst>
              <a:gd name="adj" fmla="val 6957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6"/>
          <p:cNvSpPr/>
          <p:nvPr/>
        </p:nvSpPr>
        <p:spPr>
          <a:xfrm>
            <a:off x="7022520" y="2030040"/>
            <a:ext cx="456840" cy="45684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7"/>
          <p:cNvSpPr/>
          <p:nvPr/>
        </p:nvSpPr>
        <p:spPr>
          <a:xfrm>
            <a:off x="7022520" y="2030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8"/>
          <p:cNvSpPr/>
          <p:nvPr/>
        </p:nvSpPr>
        <p:spPr>
          <a:xfrm>
            <a:off x="7635240" y="196596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Career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9"/>
          <p:cNvSpPr/>
          <p:nvPr/>
        </p:nvSpPr>
        <p:spPr>
          <a:xfrm>
            <a:off x="7635240" y="2304360"/>
            <a:ext cx="352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Chosen career path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0"/>
          <p:cNvSpPr/>
          <p:nvPr/>
        </p:nvSpPr>
        <p:spPr>
          <a:xfrm>
            <a:off x="6858000" y="285300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1"/>
          <p:cNvSpPr/>
          <p:nvPr/>
        </p:nvSpPr>
        <p:spPr>
          <a:xfrm>
            <a:off x="6858000" y="3200400"/>
            <a:ext cx="4388760" cy="1051200"/>
          </a:xfrm>
          <a:prstGeom prst="roundRect">
            <a:avLst>
              <a:gd name="adj" fmla="val 6957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2"/>
          <p:cNvSpPr/>
          <p:nvPr/>
        </p:nvSpPr>
        <p:spPr>
          <a:xfrm>
            <a:off x="7022520" y="3401640"/>
            <a:ext cx="456840" cy="45684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3"/>
          <p:cNvSpPr/>
          <p:nvPr/>
        </p:nvSpPr>
        <p:spPr>
          <a:xfrm>
            <a:off x="7022520" y="34016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4"/>
          <p:cNvSpPr/>
          <p:nvPr/>
        </p:nvSpPr>
        <p:spPr>
          <a:xfrm>
            <a:off x="7635240" y="333756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Skills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5"/>
          <p:cNvSpPr/>
          <p:nvPr/>
        </p:nvSpPr>
        <p:spPr>
          <a:xfrm>
            <a:off x="7635240" y="3675960"/>
            <a:ext cx="352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The specific skills the user is missing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6"/>
          <p:cNvSpPr/>
          <p:nvPr/>
        </p:nvSpPr>
        <p:spPr>
          <a:xfrm>
            <a:off x="6858000" y="422460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7"/>
          <p:cNvSpPr/>
          <p:nvPr/>
        </p:nvSpPr>
        <p:spPr>
          <a:xfrm>
            <a:off x="6858000" y="4572000"/>
            <a:ext cx="4388760" cy="1051200"/>
          </a:xfrm>
          <a:prstGeom prst="roundRect">
            <a:avLst>
              <a:gd name="adj" fmla="val 6957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8"/>
          <p:cNvSpPr/>
          <p:nvPr/>
        </p:nvSpPr>
        <p:spPr>
          <a:xfrm>
            <a:off x="7022520" y="4773240"/>
            <a:ext cx="456840" cy="45684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9"/>
          <p:cNvSpPr/>
          <p:nvPr/>
        </p:nvSpPr>
        <p:spPr>
          <a:xfrm>
            <a:off x="7022520" y="4773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0"/>
          <p:cNvSpPr/>
          <p:nvPr/>
        </p:nvSpPr>
        <p:spPr>
          <a:xfrm>
            <a:off x="7635240" y="470916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Curricula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1"/>
          <p:cNvSpPr/>
          <p:nvPr/>
        </p:nvSpPr>
        <p:spPr>
          <a:xfrm>
            <a:off x="7635240" y="5047560"/>
            <a:ext cx="352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Structured lessons for each missing skill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2"/>
          <p:cNvSpPr/>
          <p:nvPr/>
        </p:nvSpPr>
        <p:spPr>
          <a:xfrm>
            <a:off x="54864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3"/>
          <p:cNvSpPr/>
          <p:nvPr/>
        </p:nvSpPr>
        <p:spPr>
          <a:xfrm>
            <a:off x="1109448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548640" y="457200"/>
            <a:ext cx="2377080" cy="36540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548640" y="457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FEATURE 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"/>
          <p:cNvSpPr/>
          <p:nvPr/>
        </p:nvSpPr>
        <p:spPr>
          <a:xfrm>
            <a:off x="548640" y="9601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Smart scheduling &amp; consistency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"/>
          <p:cNvSpPr/>
          <p:nvPr/>
        </p:nvSpPr>
        <p:spPr>
          <a:xfrm>
            <a:off x="548640" y="164592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Learning only works if users stay consistent, so CareerGPS turns availability into an achievable plan.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4"/>
          <p:cNvSpPr/>
          <p:nvPr/>
        </p:nvSpPr>
        <p:spPr>
          <a:xfrm>
            <a:off x="548640" y="2331720"/>
            <a:ext cx="5120280" cy="1874160"/>
          </a:xfrm>
          <a:prstGeom prst="roundRect">
            <a:avLst>
              <a:gd name="adj" fmla="val 3902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5"/>
          <p:cNvSpPr/>
          <p:nvPr/>
        </p:nvSpPr>
        <p:spPr>
          <a:xfrm>
            <a:off x="777240" y="2560320"/>
            <a:ext cx="438480" cy="43848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6"/>
          <p:cNvSpPr/>
          <p:nvPr/>
        </p:nvSpPr>
        <p:spPr>
          <a:xfrm>
            <a:off x="777240" y="256032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7"/>
          <p:cNvSpPr/>
          <p:nvPr/>
        </p:nvSpPr>
        <p:spPr>
          <a:xfrm>
            <a:off x="1371600" y="253296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Built on real availability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8"/>
          <p:cNvSpPr/>
          <p:nvPr/>
        </p:nvSpPr>
        <p:spPr>
          <a:xfrm>
            <a:off x="804600" y="3108960"/>
            <a:ext cx="4617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Days per week and hours per day feed directly into the calendar CareerGPS builds for the user.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9"/>
          <p:cNvSpPr/>
          <p:nvPr/>
        </p:nvSpPr>
        <p:spPr>
          <a:xfrm>
            <a:off x="5943600" y="2331720"/>
            <a:ext cx="5120280" cy="1874160"/>
          </a:xfrm>
          <a:prstGeom prst="roundRect">
            <a:avLst>
              <a:gd name="adj" fmla="val 3902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0"/>
          <p:cNvSpPr/>
          <p:nvPr/>
        </p:nvSpPr>
        <p:spPr>
          <a:xfrm>
            <a:off x="6172200" y="2560320"/>
            <a:ext cx="438480" cy="43848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1"/>
          <p:cNvSpPr/>
          <p:nvPr/>
        </p:nvSpPr>
        <p:spPr>
          <a:xfrm>
            <a:off x="6172200" y="256032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2"/>
          <p:cNvSpPr/>
          <p:nvPr/>
        </p:nvSpPr>
        <p:spPr>
          <a:xfrm>
            <a:off x="6766560" y="253296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Two-week cycles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3"/>
          <p:cNvSpPr/>
          <p:nvPr/>
        </p:nvSpPr>
        <p:spPr>
          <a:xfrm>
            <a:off x="6199560" y="3108960"/>
            <a:ext cx="4617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Study topics are planned in flexible two-week cycles instead of one rigid long-term plan.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4"/>
          <p:cNvSpPr/>
          <p:nvPr/>
        </p:nvSpPr>
        <p:spPr>
          <a:xfrm>
            <a:off x="548640" y="4480560"/>
            <a:ext cx="5120280" cy="1874160"/>
          </a:xfrm>
          <a:prstGeom prst="roundRect">
            <a:avLst>
              <a:gd name="adj" fmla="val 3902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5"/>
          <p:cNvSpPr/>
          <p:nvPr/>
        </p:nvSpPr>
        <p:spPr>
          <a:xfrm>
            <a:off x="777240" y="4709160"/>
            <a:ext cx="438480" cy="43848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6"/>
          <p:cNvSpPr/>
          <p:nvPr/>
        </p:nvSpPr>
        <p:spPr>
          <a:xfrm>
            <a:off x="777240" y="470916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7"/>
          <p:cNvSpPr/>
          <p:nvPr/>
        </p:nvSpPr>
        <p:spPr>
          <a:xfrm>
            <a:off x="1371600" y="46818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Missed-session reminders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8"/>
          <p:cNvSpPr/>
          <p:nvPr/>
        </p:nvSpPr>
        <p:spPr>
          <a:xfrm>
            <a:off x="804600" y="5257800"/>
            <a:ext cx="4617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A notification nudges the user to study when a scheduled event is skipped.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9"/>
          <p:cNvSpPr/>
          <p:nvPr/>
        </p:nvSpPr>
        <p:spPr>
          <a:xfrm>
            <a:off x="5943600" y="4480560"/>
            <a:ext cx="5120280" cy="1874160"/>
          </a:xfrm>
          <a:prstGeom prst="roundRect">
            <a:avLst>
              <a:gd name="adj" fmla="val 3902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20"/>
          <p:cNvSpPr/>
          <p:nvPr/>
        </p:nvSpPr>
        <p:spPr>
          <a:xfrm>
            <a:off x="6172200" y="4709160"/>
            <a:ext cx="438480" cy="43848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1"/>
          <p:cNvSpPr/>
          <p:nvPr/>
        </p:nvSpPr>
        <p:spPr>
          <a:xfrm>
            <a:off x="6172200" y="470916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2"/>
          <p:cNvSpPr/>
          <p:nvPr/>
        </p:nvSpPr>
        <p:spPr>
          <a:xfrm>
            <a:off x="6766560" y="46818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Encouraging nudges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3"/>
          <p:cNvSpPr/>
          <p:nvPr/>
        </p:nvSpPr>
        <p:spPr>
          <a:xfrm>
            <a:off x="6199560" y="5257800"/>
            <a:ext cx="4617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If a user forgets to plan the next two weeks, CareerGPS sends an encouraging message to keep them going.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4"/>
          <p:cNvSpPr/>
          <p:nvPr/>
        </p:nvSpPr>
        <p:spPr>
          <a:xfrm>
            <a:off x="54864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5"/>
          <p:cNvSpPr/>
          <p:nvPr/>
        </p:nvSpPr>
        <p:spPr>
          <a:xfrm>
            <a:off x="1109448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0"/>
          <p:cNvSpPr/>
          <p:nvPr/>
        </p:nvSpPr>
        <p:spPr>
          <a:xfrm>
            <a:off x="548640" y="457200"/>
            <a:ext cx="2377080" cy="365400"/>
          </a:xfrm>
          <a:prstGeom prst="roundRect">
            <a:avLst>
              <a:gd name="adj" fmla="val 50000"/>
            </a:avLst>
          </a:prstGeom>
          <a:solidFill>
            <a:srgbClr val="2929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548640" y="457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FEATURE 03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"/>
          <p:cNvSpPr/>
          <p:nvPr/>
        </p:nvSpPr>
        <p:spPr>
          <a:xfrm>
            <a:off x="548640" y="9601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Gamification that builds the habit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548640" y="16459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Small, visible rewards keep users committed to the plan long after motivation fades.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4"/>
          <p:cNvSpPr/>
          <p:nvPr/>
        </p:nvSpPr>
        <p:spPr>
          <a:xfrm>
            <a:off x="548640" y="2331720"/>
            <a:ext cx="3520080" cy="2742840"/>
          </a:xfrm>
          <a:prstGeom prst="roundRect">
            <a:avLst>
              <a:gd name="adj" fmla="val 2667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5"/>
          <p:cNvSpPr/>
          <p:nvPr/>
        </p:nvSpPr>
        <p:spPr>
          <a:xfrm>
            <a:off x="804600" y="2587680"/>
            <a:ext cx="502560" cy="50256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6"/>
          <p:cNvSpPr/>
          <p:nvPr/>
        </p:nvSpPr>
        <p:spPr>
          <a:xfrm>
            <a:off x="804600" y="25876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7"/>
          <p:cNvSpPr/>
          <p:nvPr/>
        </p:nvSpPr>
        <p:spPr>
          <a:xfrm>
            <a:off x="804600" y="3291840"/>
            <a:ext cx="3008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Progress score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8"/>
          <p:cNvSpPr/>
          <p:nvPr/>
        </p:nvSpPr>
        <p:spPr>
          <a:xfrm>
            <a:off x="804600" y="3703320"/>
            <a:ext cx="30081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The overall score rises every time a user finishes a full skill curriculum.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9"/>
          <p:cNvSpPr/>
          <p:nvPr/>
        </p:nvSpPr>
        <p:spPr>
          <a:xfrm>
            <a:off x="4297680" y="2331720"/>
            <a:ext cx="3520080" cy="2742840"/>
          </a:xfrm>
          <a:prstGeom prst="roundRect">
            <a:avLst>
              <a:gd name="adj" fmla="val 2667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0"/>
          <p:cNvSpPr/>
          <p:nvPr/>
        </p:nvSpPr>
        <p:spPr>
          <a:xfrm>
            <a:off x="4553640" y="2587680"/>
            <a:ext cx="502560" cy="50256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1"/>
          <p:cNvSpPr/>
          <p:nvPr/>
        </p:nvSpPr>
        <p:spPr>
          <a:xfrm>
            <a:off x="4553640" y="25876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2"/>
          <p:cNvSpPr/>
          <p:nvPr/>
        </p:nvSpPr>
        <p:spPr>
          <a:xfrm>
            <a:off x="4553640" y="3291840"/>
            <a:ext cx="3008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Learning streak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3"/>
          <p:cNvSpPr/>
          <p:nvPr/>
        </p:nvSpPr>
        <p:spPr>
          <a:xfrm>
            <a:off x="4553640" y="3703320"/>
            <a:ext cx="30081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The streak grows with every completed scheduled task, and drops when one is missed.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4"/>
          <p:cNvSpPr/>
          <p:nvPr/>
        </p:nvSpPr>
        <p:spPr>
          <a:xfrm>
            <a:off x="8046720" y="2331720"/>
            <a:ext cx="3520080" cy="2742840"/>
          </a:xfrm>
          <a:prstGeom prst="roundRect">
            <a:avLst>
              <a:gd name="adj" fmla="val 2667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5"/>
          <p:cNvSpPr/>
          <p:nvPr/>
        </p:nvSpPr>
        <p:spPr>
          <a:xfrm>
            <a:off x="8302680" y="2587680"/>
            <a:ext cx="502560" cy="50256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6"/>
          <p:cNvSpPr/>
          <p:nvPr/>
        </p:nvSpPr>
        <p:spPr>
          <a:xfrm>
            <a:off x="8302680" y="25876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7"/>
          <p:cNvSpPr/>
          <p:nvPr/>
        </p:nvSpPr>
        <p:spPr>
          <a:xfrm>
            <a:off x="8302680" y="3291840"/>
            <a:ext cx="3008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 monthly freezes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8"/>
          <p:cNvSpPr/>
          <p:nvPr/>
        </p:nvSpPr>
        <p:spPr>
          <a:xfrm>
            <a:off x="8302680" y="3703320"/>
            <a:ext cx="30081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Each user gets 3 freezes a month to protect their streak during unavoidable breaks.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9"/>
          <p:cNvSpPr/>
          <p:nvPr/>
        </p:nvSpPr>
        <p:spPr>
          <a:xfrm>
            <a:off x="54864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0"/>
          <p:cNvSpPr/>
          <p:nvPr/>
        </p:nvSpPr>
        <p:spPr>
          <a:xfrm>
            <a:off x="1109448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06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0"/>
          <p:cNvSpPr/>
          <p:nvPr/>
        </p:nvSpPr>
        <p:spPr>
          <a:xfrm>
            <a:off x="548640" y="457200"/>
            <a:ext cx="2377080" cy="36540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548640" y="457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FEATURE 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"/>
          <p:cNvSpPr/>
          <p:nvPr/>
        </p:nvSpPr>
        <p:spPr>
          <a:xfrm>
            <a:off x="548640" y="9601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ATS CV evaluation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548640" y="1645920"/>
            <a:ext cx="5486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Many qualified candidates are rejected before a recruiter ever opens their CV. CareerGPS checks it the way an ATS does.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4"/>
          <p:cNvSpPr/>
          <p:nvPr/>
        </p:nvSpPr>
        <p:spPr>
          <a:xfrm>
            <a:off x="548640" y="2743200"/>
            <a:ext cx="5486040" cy="566640"/>
          </a:xfrm>
          <a:prstGeom prst="roundRect">
            <a:avLst>
              <a:gd name="adj" fmla="val 9677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822960" y="2743200"/>
            <a:ext cx="4937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ATS compatibility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6"/>
          <p:cNvSpPr/>
          <p:nvPr/>
        </p:nvSpPr>
        <p:spPr>
          <a:xfrm>
            <a:off x="548640" y="3429000"/>
            <a:ext cx="5486040" cy="566640"/>
          </a:xfrm>
          <a:prstGeom prst="roundRect">
            <a:avLst>
              <a:gd name="adj" fmla="val 9677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7"/>
          <p:cNvSpPr/>
          <p:nvPr/>
        </p:nvSpPr>
        <p:spPr>
          <a:xfrm>
            <a:off x="822960" y="3429000"/>
            <a:ext cx="4937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Resume formatting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8"/>
          <p:cNvSpPr/>
          <p:nvPr/>
        </p:nvSpPr>
        <p:spPr>
          <a:xfrm>
            <a:off x="548640" y="4114800"/>
            <a:ext cx="5486040" cy="566640"/>
          </a:xfrm>
          <a:prstGeom prst="roundRect">
            <a:avLst>
              <a:gd name="adj" fmla="val 9677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9"/>
          <p:cNvSpPr/>
          <p:nvPr/>
        </p:nvSpPr>
        <p:spPr>
          <a:xfrm>
            <a:off x="822960" y="4114800"/>
            <a:ext cx="4937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Structure &amp; layout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0"/>
          <p:cNvSpPr/>
          <p:nvPr/>
        </p:nvSpPr>
        <p:spPr>
          <a:xfrm>
            <a:off x="548640" y="4800600"/>
            <a:ext cx="5486040" cy="566640"/>
          </a:xfrm>
          <a:prstGeom prst="roundRect">
            <a:avLst>
              <a:gd name="adj" fmla="val 9677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1"/>
          <p:cNvSpPr/>
          <p:nvPr/>
        </p:nvSpPr>
        <p:spPr>
          <a:xfrm>
            <a:off x="822960" y="4800600"/>
            <a:ext cx="4937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Readability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2"/>
          <p:cNvSpPr/>
          <p:nvPr/>
        </p:nvSpPr>
        <p:spPr>
          <a:xfrm>
            <a:off x="6492240" y="960120"/>
            <a:ext cx="5120280" cy="5394600"/>
          </a:xfrm>
          <a:prstGeom prst="roundRect">
            <a:avLst>
              <a:gd name="adj" fmla="val 1786"/>
            </a:avLst>
          </a:prstGeom>
          <a:solidFill>
            <a:srgbClr val="EFEFEF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3"/>
          <p:cNvSpPr/>
          <p:nvPr/>
        </p:nvSpPr>
        <p:spPr>
          <a:xfrm>
            <a:off x="6858000" y="128016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ATS Score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4"/>
          <p:cNvSpPr/>
          <p:nvPr/>
        </p:nvSpPr>
        <p:spPr>
          <a:xfrm>
            <a:off x="8001000" y="1828800"/>
            <a:ext cx="2102760" cy="210276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2B7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5"/>
          <p:cNvSpPr/>
          <p:nvPr/>
        </p:nvSpPr>
        <p:spPr>
          <a:xfrm>
            <a:off x="8001000" y="1828800"/>
            <a:ext cx="21027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87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6"/>
          <p:cNvSpPr/>
          <p:nvPr/>
        </p:nvSpPr>
        <p:spPr>
          <a:xfrm>
            <a:off x="8001000" y="397764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out of 100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7"/>
          <p:cNvSpPr/>
          <p:nvPr/>
        </p:nvSpPr>
        <p:spPr>
          <a:xfrm>
            <a:off x="6858000" y="4663440"/>
            <a:ext cx="4388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Actionable recommendations raise this score and the odds of passing ATS screening.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8"/>
          <p:cNvSpPr/>
          <p:nvPr/>
        </p:nvSpPr>
        <p:spPr>
          <a:xfrm>
            <a:off x="54864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9"/>
          <p:cNvSpPr/>
          <p:nvPr/>
        </p:nvSpPr>
        <p:spPr>
          <a:xfrm>
            <a:off x="1109448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07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0"/>
          <p:cNvSpPr/>
          <p:nvPr/>
        </p:nvSpPr>
        <p:spPr>
          <a:xfrm>
            <a:off x="548640" y="457200"/>
            <a:ext cx="2377080" cy="36540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"/>
          <p:cNvSpPr/>
          <p:nvPr/>
        </p:nvSpPr>
        <p:spPr>
          <a:xfrm>
            <a:off x="548640" y="457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FEATURE 05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"/>
          <p:cNvSpPr/>
          <p:nvPr/>
        </p:nvSpPr>
        <p:spPr>
          <a:xfrm>
            <a:off x="548640" y="9601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CV vs. job description gap analysis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"/>
          <p:cNvSpPr/>
          <p:nvPr/>
        </p:nvSpPr>
        <p:spPr>
          <a:xfrm>
            <a:off x="548640" y="16459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Before applying, users upload a CV and a target job description. CareerGPS compares them and shows exactly what's missing.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4"/>
          <p:cNvSpPr/>
          <p:nvPr/>
        </p:nvSpPr>
        <p:spPr>
          <a:xfrm>
            <a:off x="548640" y="2514600"/>
            <a:ext cx="2486880" cy="2468520"/>
          </a:xfrm>
          <a:prstGeom prst="roundRect">
            <a:avLst>
              <a:gd name="adj" fmla="val 2963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5"/>
          <p:cNvSpPr/>
          <p:nvPr/>
        </p:nvSpPr>
        <p:spPr>
          <a:xfrm>
            <a:off x="1517760" y="2834640"/>
            <a:ext cx="548280" cy="54828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6"/>
          <p:cNvSpPr/>
          <p:nvPr/>
        </p:nvSpPr>
        <p:spPr>
          <a:xfrm>
            <a:off x="1517760" y="28346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6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7"/>
          <p:cNvSpPr/>
          <p:nvPr/>
        </p:nvSpPr>
        <p:spPr>
          <a:xfrm>
            <a:off x="685800" y="3657600"/>
            <a:ext cx="2212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Missing skills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8"/>
          <p:cNvSpPr/>
          <p:nvPr/>
        </p:nvSpPr>
        <p:spPr>
          <a:xfrm>
            <a:off x="3255120" y="2514600"/>
            <a:ext cx="2486880" cy="2468520"/>
          </a:xfrm>
          <a:prstGeom prst="roundRect">
            <a:avLst>
              <a:gd name="adj" fmla="val 2963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9"/>
          <p:cNvSpPr/>
          <p:nvPr/>
        </p:nvSpPr>
        <p:spPr>
          <a:xfrm>
            <a:off x="4224600" y="2834640"/>
            <a:ext cx="548280" cy="54828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0"/>
          <p:cNvSpPr/>
          <p:nvPr/>
        </p:nvSpPr>
        <p:spPr>
          <a:xfrm>
            <a:off x="4224600" y="28346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6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1"/>
          <p:cNvSpPr/>
          <p:nvPr/>
        </p:nvSpPr>
        <p:spPr>
          <a:xfrm>
            <a:off x="3392280" y="3657600"/>
            <a:ext cx="2212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Missing keywords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2"/>
          <p:cNvSpPr/>
          <p:nvPr/>
        </p:nvSpPr>
        <p:spPr>
          <a:xfrm>
            <a:off x="5961960" y="2514600"/>
            <a:ext cx="2486880" cy="2468520"/>
          </a:xfrm>
          <a:prstGeom prst="roundRect">
            <a:avLst>
              <a:gd name="adj" fmla="val 2963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3"/>
          <p:cNvSpPr/>
          <p:nvPr/>
        </p:nvSpPr>
        <p:spPr>
          <a:xfrm>
            <a:off x="6931080" y="2834640"/>
            <a:ext cx="548280" cy="54828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4"/>
          <p:cNvSpPr/>
          <p:nvPr/>
        </p:nvSpPr>
        <p:spPr>
          <a:xfrm>
            <a:off x="6931080" y="28346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6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5"/>
          <p:cNvSpPr/>
          <p:nvPr/>
        </p:nvSpPr>
        <p:spPr>
          <a:xfrm>
            <a:off x="6099120" y="3657600"/>
            <a:ext cx="2212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Experience gaps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6"/>
          <p:cNvSpPr/>
          <p:nvPr/>
        </p:nvSpPr>
        <p:spPr>
          <a:xfrm>
            <a:off x="8668440" y="2514600"/>
            <a:ext cx="2486880" cy="2468520"/>
          </a:xfrm>
          <a:prstGeom prst="roundRect">
            <a:avLst>
              <a:gd name="adj" fmla="val 2963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7"/>
          <p:cNvSpPr/>
          <p:nvPr/>
        </p:nvSpPr>
        <p:spPr>
          <a:xfrm>
            <a:off x="9637920" y="2834640"/>
            <a:ext cx="548280" cy="54828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8"/>
          <p:cNvSpPr/>
          <p:nvPr/>
        </p:nvSpPr>
        <p:spPr>
          <a:xfrm>
            <a:off x="9637920" y="28346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6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9"/>
          <p:cNvSpPr/>
          <p:nvPr/>
        </p:nvSpPr>
        <p:spPr>
          <a:xfrm>
            <a:off x="8805600" y="3657600"/>
            <a:ext cx="2212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Matching strengths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0"/>
          <p:cNvSpPr/>
          <p:nvPr/>
        </p:nvSpPr>
        <p:spPr>
          <a:xfrm>
            <a:off x="548640" y="52578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The result: users know exactly what employers expect before they submit an application.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1"/>
          <p:cNvSpPr/>
          <p:nvPr/>
        </p:nvSpPr>
        <p:spPr>
          <a:xfrm>
            <a:off x="54864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2"/>
          <p:cNvSpPr/>
          <p:nvPr/>
        </p:nvSpPr>
        <p:spPr>
          <a:xfrm>
            <a:off x="1109448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08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0"/>
          <p:cNvSpPr/>
          <p:nvPr/>
        </p:nvSpPr>
        <p:spPr>
          <a:xfrm>
            <a:off x="548640" y="457200"/>
            <a:ext cx="2377080" cy="365400"/>
          </a:xfrm>
          <a:prstGeom prst="roundRect">
            <a:avLst>
              <a:gd name="adj" fmla="val 50000"/>
            </a:avLst>
          </a:prstGeom>
          <a:solidFill>
            <a:srgbClr val="2929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"/>
          <p:cNvSpPr/>
          <p:nvPr/>
        </p:nvSpPr>
        <p:spPr>
          <a:xfrm>
            <a:off x="548640" y="457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FEATURE 06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"/>
          <p:cNvSpPr/>
          <p:nvPr/>
        </p:nvSpPr>
        <p:spPr>
          <a:xfrm>
            <a:off x="548640" y="9601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AI interview simulation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3"/>
          <p:cNvSpPr/>
          <p:nvPr/>
        </p:nvSpPr>
        <p:spPr>
          <a:xfrm>
            <a:off x="548640" y="1645920"/>
            <a:ext cx="5486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CareerGPS runs a realistic interview conversation, adapted to the user's chosen career, then delivers feedback that matters.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4"/>
          <p:cNvSpPr/>
          <p:nvPr/>
        </p:nvSpPr>
        <p:spPr>
          <a:xfrm>
            <a:off x="548640" y="2743200"/>
            <a:ext cx="292320" cy="29232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5"/>
          <p:cNvSpPr/>
          <p:nvPr/>
        </p:nvSpPr>
        <p:spPr>
          <a:xfrm>
            <a:off x="548640" y="27432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6"/>
          <p:cNvSpPr/>
          <p:nvPr/>
        </p:nvSpPr>
        <p:spPr>
          <a:xfrm>
            <a:off x="1005840" y="270648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Technical questions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7"/>
          <p:cNvSpPr/>
          <p:nvPr/>
        </p:nvSpPr>
        <p:spPr>
          <a:xfrm>
            <a:off x="548640" y="3310200"/>
            <a:ext cx="292320" cy="29232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8"/>
          <p:cNvSpPr/>
          <p:nvPr/>
        </p:nvSpPr>
        <p:spPr>
          <a:xfrm>
            <a:off x="548640" y="33102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9"/>
          <p:cNvSpPr/>
          <p:nvPr/>
        </p:nvSpPr>
        <p:spPr>
          <a:xfrm>
            <a:off x="1005840" y="327348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Behavioral questions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0"/>
          <p:cNvSpPr/>
          <p:nvPr/>
        </p:nvSpPr>
        <p:spPr>
          <a:xfrm>
            <a:off x="548640" y="3877200"/>
            <a:ext cx="292320" cy="29232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1"/>
          <p:cNvSpPr/>
          <p:nvPr/>
        </p:nvSpPr>
        <p:spPr>
          <a:xfrm>
            <a:off x="548640" y="38772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2"/>
          <p:cNvSpPr/>
          <p:nvPr/>
        </p:nvSpPr>
        <p:spPr>
          <a:xfrm>
            <a:off x="1005840" y="384048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Adapts to the chosen career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3"/>
          <p:cNvSpPr/>
          <p:nvPr/>
        </p:nvSpPr>
        <p:spPr>
          <a:xfrm>
            <a:off x="548640" y="4443840"/>
            <a:ext cx="292320" cy="29232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4"/>
          <p:cNvSpPr/>
          <p:nvPr/>
        </p:nvSpPr>
        <p:spPr>
          <a:xfrm>
            <a:off x="548640" y="44438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5"/>
          <p:cNvSpPr/>
          <p:nvPr/>
        </p:nvSpPr>
        <p:spPr>
          <a:xfrm>
            <a:off x="1005840" y="440748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Evaluates every response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6"/>
          <p:cNvSpPr/>
          <p:nvPr/>
        </p:nvSpPr>
        <p:spPr>
          <a:xfrm>
            <a:off x="6492240" y="960120"/>
            <a:ext cx="5120280" cy="5394600"/>
          </a:xfrm>
          <a:prstGeom prst="roundRect">
            <a:avLst>
              <a:gd name="adj" fmla="val 1786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7"/>
          <p:cNvSpPr/>
          <p:nvPr/>
        </p:nvSpPr>
        <p:spPr>
          <a:xfrm>
            <a:off x="6858000" y="128016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Feedback report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8"/>
          <p:cNvSpPr/>
          <p:nvPr/>
        </p:nvSpPr>
        <p:spPr>
          <a:xfrm>
            <a:off x="6858000" y="1920240"/>
            <a:ext cx="4388760" cy="566640"/>
          </a:xfrm>
          <a:prstGeom prst="roundRect">
            <a:avLst>
              <a:gd name="adj" fmla="val 9677"/>
            </a:avLst>
          </a:prstGeom>
          <a:solidFill>
            <a:srgbClr val="2929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9"/>
          <p:cNvSpPr/>
          <p:nvPr/>
        </p:nvSpPr>
        <p:spPr>
          <a:xfrm>
            <a:off x="7086600" y="192024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Strengths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20"/>
          <p:cNvSpPr/>
          <p:nvPr/>
        </p:nvSpPr>
        <p:spPr>
          <a:xfrm>
            <a:off x="6858000" y="2606040"/>
            <a:ext cx="4388760" cy="566640"/>
          </a:xfrm>
          <a:prstGeom prst="roundRect">
            <a:avLst>
              <a:gd name="adj" fmla="val 9677"/>
            </a:avLst>
          </a:prstGeom>
          <a:solidFill>
            <a:srgbClr val="2929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1"/>
          <p:cNvSpPr/>
          <p:nvPr/>
        </p:nvSpPr>
        <p:spPr>
          <a:xfrm>
            <a:off x="7086600" y="260604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Weaknesses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22"/>
          <p:cNvSpPr/>
          <p:nvPr/>
        </p:nvSpPr>
        <p:spPr>
          <a:xfrm>
            <a:off x="6858000" y="3291840"/>
            <a:ext cx="4388760" cy="566640"/>
          </a:xfrm>
          <a:prstGeom prst="roundRect">
            <a:avLst>
              <a:gd name="adj" fmla="val 9677"/>
            </a:avLst>
          </a:prstGeom>
          <a:solidFill>
            <a:srgbClr val="2929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3"/>
          <p:cNvSpPr/>
          <p:nvPr/>
        </p:nvSpPr>
        <p:spPr>
          <a:xfrm>
            <a:off x="7086600" y="329184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Communication quality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24"/>
          <p:cNvSpPr/>
          <p:nvPr/>
        </p:nvSpPr>
        <p:spPr>
          <a:xfrm>
            <a:off x="6858000" y="3977640"/>
            <a:ext cx="4388760" cy="566640"/>
          </a:xfrm>
          <a:prstGeom prst="roundRect">
            <a:avLst>
              <a:gd name="adj" fmla="val 9677"/>
            </a:avLst>
          </a:prstGeom>
          <a:solidFill>
            <a:srgbClr val="2929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5"/>
          <p:cNvSpPr/>
          <p:nvPr/>
        </p:nvSpPr>
        <p:spPr>
          <a:xfrm>
            <a:off x="7086600" y="397764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Technical performance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26"/>
          <p:cNvSpPr/>
          <p:nvPr/>
        </p:nvSpPr>
        <p:spPr>
          <a:xfrm>
            <a:off x="6858000" y="4663440"/>
            <a:ext cx="4388760" cy="566640"/>
          </a:xfrm>
          <a:prstGeom prst="roundRect">
            <a:avLst>
              <a:gd name="adj" fmla="val 9677"/>
            </a:avLst>
          </a:prstGeom>
          <a:solidFill>
            <a:srgbClr val="2929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7"/>
          <p:cNvSpPr/>
          <p:nvPr/>
        </p:nvSpPr>
        <p:spPr>
          <a:xfrm>
            <a:off x="7086600" y="4663440"/>
            <a:ext cx="3931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Areas for improvement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8"/>
          <p:cNvSpPr/>
          <p:nvPr/>
        </p:nvSpPr>
        <p:spPr>
          <a:xfrm>
            <a:off x="54864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9"/>
          <p:cNvSpPr/>
          <p:nvPr/>
        </p:nvSpPr>
        <p:spPr>
          <a:xfrm>
            <a:off x="1109448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09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0"/>
          <p:cNvSpPr/>
          <p:nvPr/>
        </p:nvSpPr>
        <p:spPr>
          <a:xfrm>
            <a:off x="548640" y="457200"/>
            <a:ext cx="2377080" cy="36540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"/>
          <p:cNvSpPr/>
          <p:nvPr/>
        </p:nvSpPr>
        <p:spPr>
          <a:xfrm>
            <a:off x="548640" y="457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FEATURE 07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"/>
          <p:cNvSpPr/>
          <p:nvPr/>
        </p:nvSpPr>
        <p:spPr>
          <a:xfrm>
            <a:off x="548640" y="9601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Competitive motivation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3"/>
          <p:cNvSpPr/>
          <p:nvPr/>
        </p:nvSpPr>
        <p:spPr>
          <a:xfrm>
            <a:off x="548640" y="16459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Two leaderboards keep users engaged long after the novelty of a new plan wears off.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4"/>
          <p:cNvSpPr/>
          <p:nvPr/>
        </p:nvSpPr>
        <p:spPr>
          <a:xfrm>
            <a:off x="548640" y="2377440"/>
            <a:ext cx="5120280" cy="3291480"/>
          </a:xfrm>
          <a:prstGeom prst="roundRect">
            <a:avLst>
              <a:gd name="adj" fmla="val 2778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5"/>
          <p:cNvSpPr/>
          <p:nvPr/>
        </p:nvSpPr>
        <p:spPr>
          <a:xfrm>
            <a:off x="822960" y="2651760"/>
            <a:ext cx="502560" cy="50256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6"/>
          <p:cNvSpPr/>
          <p:nvPr/>
        </p:nvSpPr>
        <p:spPr>
          <a:xfrm>
            <a:off x="822960" y="26517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7"/>
          <p:cNvSpPr/>
          <p:nvPr/>
        </p:nvSpPr>
        <p:spPr>
          <a:xfrm>
            <a:off x="822960" y="338328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Global leaderboard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8"/>
          <p:cNvSpPr/>
          <p:nvPr/>
        </p:nvSpPr>
        <p:spPr>
          <a:xfrm>
            <a:off x="822960" y="3886200"/>
            <a:ext cx="4571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See how your progress compares with every CareerGPS user, across every career path.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9"/>
          <p:cNvSpPr/>
          <p:nvPr/>
        </p:nvSpPr>
        <p:spPr>
          <a:xfrm>
            <a:off x="822960" y="4663440"/>
            <a:ext cx="4571640" cy="2923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0"/>
          <p:cNvSpPr/>
          <p:nvPr/>
        </p:nvSpPr>
        <p:spPr>
          <a:xfrm>
            <a:off x="960120" y="466344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#1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1"/>
          <p:cNvSpPr/>
          <p:nvPr/>
        </p:nvSpPr>
        <p:spPr>
          <a:xfrm>
            <a:off x="822960" y="5029200"/>
            <a:ext cx="4571640" cy="2923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2"/>
          <p:cNvSpPr/>
          <p:nvPr/>
        </p:nvSpPr>
        <p:spPr>
          <a:xfrm>
            <a:off x="960120" y="502920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#2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3"/>
          <p:cNvSpPr/>
          <p:nvPr/>
        </p:nvSpPr>
        <p:spPr>
          <a:xfrm>
            <a:off x="822960" y="5394960"/>
            <a:ext cx="4571640" cy="2923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4"/>
          <p:cNvSpPr/>
          <p:nvPr/>
        </p:nvSpPr>
        <p:spPr>
          <a:xfrm>
            <a:off x="960120" y="539496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#3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5"/>
          <p:cNvSpPr/>
          <p:nvPr/>
        </p:nvSpPr>
        <p:spPr>
          <a:xfrm>
            <a:off x="5943600" y="2377440"/>
            <a:ext cx="5120280" cy="3291480"/>
          </a:xfrm>
          <a:prstGeom prst="roundRect">
            <a:avLst>
              <a:gd name="adj" fmla="val 2778"/>
            </a:avLst>
          </a:prstGeom>
          <a:solidFill>
            <a:srgbClr val="F5F5F5"/>
          </a:solidFill>
          <a:ln w="12700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6"/>
          <p:cNvSpPr/>
          <p:nvPr/>
        </p:nvSpPr>
        <p:spPr>
          <a:xfrm>
            <a:off x="6217920" y="2651760"/>
            <a:ext cx="502560" cy="50256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7"/>
          <p:cNvSpPr/>
          <p:nvPr/>
        </p:nvSpPr>
        <p:spPr>
          <a:xfrm>
            <a:off x="6217920" y="26517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8"/>
          <p:cNvSpPr/>
          <p:nvPr/>
        </p:nvSpPr>
        <p:spPr>
          <a:xfrm>
            <a:off x="6217920" y="338328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81818"/>
                </a:solidFill>
                <a:effectLst/>
                <a:uFillTx/>
                <a:latin typeface="Arial"/>
                <a:ea typeface="Arial"/>
              </a:rPr>
              <a:t>Career leaderboard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9"/>
          <p:cNvSpPr/>
          <p:nvPr/>
        </p:nvSpPr>
        <p:spPr>
          <a:xfrm>
            <a:off x="6217920" y="3886200"/>
            <a:ext cx="4571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Compare yourself only against users pursuing the same career you are.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0"/>
          <p:cNvSpPr/>
          <p:nvPr/>
        </p:nvSpPr>
        <p:spPr>
          <a:xfrm>
            <a:off x="6217920" y="4663440"/>
            <a:ext cx="4571640" cy="2923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1"/>
          <p:cNvSpPr/>
          <p:nvPr/>
        </p:nvSpPr>
        <p:spPr>
          <a:xfrm>
            <a:off x="6355080" y="466344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#1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2"/>
          <p:cNvSpPr/>
          <p:nvPr/>
        </p:nvSpPr>
        <p:spPr>
          <a:xfrm>
            <a:off x="6217920" y="5029200"/>
            <a:ext cx="4571640" cy="2923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3"/>
          <p:cNvSpPr/>
          <p:nvPr/>
        </p:nvSpPr>
        <p:spPr>
          <a:xfrm>
            <a:off x="6355080" y="502920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#2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4"/>
          <p:cNvSpPr/>
          <p:nvPr/>
        </p:nvSpPr>
        <p:spPr>
          <a:xfrm>
            <a:off x="6217920" y="5394960"/>
            <a:ext cx="4571640" cy="2923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EDE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5"/>
          <p:cNvSpPr/>
          <p:nvPr/>
        </p:nvSpPr>
        <p:spPr>
          <a:xfrm>
            <a:off x="6355080" y="539496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#3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6"/>
          <p:cNvSpPr/>
          <p:nvPr/>
        </p:nvSpPr>
        <p:spPr>
          <a:xfrm>
            <a:off x="54864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7"/>
          <p:cNvSpPr/>
          <p:nvPr/>
        </p:nvSpPr>
        <p:spPr>
          <a:xfrm>
            <a:off x="1109448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27272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0"/>
          <p:cNvSpPr/>
          <p:nvPr/>
        </p:nvSpPr>
        <p:spPr>
          <a:xfrm>
            <a:off x="548640" y="457200"/>
            <a:ext cx="2377080" cy="365400"/>
          </a:xfrm>
          <a:prstGeom prst="roundRect">
            <a:avLst>
              <a:gd name="adj" fmla="val 50000"/>
            </a:avLst>
          </a:prstGeom>
          <a:solidFill>
            <a:srgbClr val="2929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"/>
          <p:cNvSpPr/>
          <p:nvPr/>
        </p:nvSpPr>
        <p:spPr>
          <a:xfrm>
            <a:off x="548640" y="457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WHY CAREERGPS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2"/>
          <p:cNvSpPr/>
          <p:nvPr/>
        </p:nvSpPr>
        <p:spPr>
          <a:xfrm>
            <a:off x="548640" y="9601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Every stage of the journey, connected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3"/>
          <p:cNvSpPr/>
          <p:nvPr/>
        </p:nvSpPr>
        <p:spPr>
          <a:xfrm>
            <a:off x="548640" y="16459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Most platforms solve one problem. CareerGPS connects all four.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4"/>
          <p:cNvSpPr/>
          <p:nvPr/>
        </p:nvSpPr>
        <p:spPr>
          <a:xfrm>
            <a:off x="548640" y="2468880"/>
            <a:ext cx="2514240" cy="3108600"/>
          </a:xfrm>
          <a:prstGeom prst="roundRect">
            <a:avLst>
              <a:gd name="adj" fmla="val 3636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5"/>
          <p:cNvSpPr/>
          <p:nvPr/>
        </p:nvSpPr>
        <p:spPr>
          <a:xfrm>
            <a:off x="1513440" y="2788920"/>
            <a:ext cx="585000" cy="58500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6"/>
          <p:cNvSpPr/>
          <p:nvPr/>
        </p:nvSpPr>
        <p:spPr>
          <a:xfrm>
            <a:off x="1513440" y="2788920"/>
            <a:ext cx="585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6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7"/>
          <p:cNvSpPr/>
          <p:nvPr/>
        </p:nvSpPr>
        <p:spPr>
          <a:xfrm>
            <a:off x="685800" y="361188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Learn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8"/>
          <p:cNvSpPr/>
          <p:nvPr/>
        </p:nvSpPr>
        <p:spPr>
          <a:xfrm>
            <a:off x="731520" y="4160520"/>
            <a:ext cx="2148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AI-generated personalized roadmaps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9"/>
          <p:cNvSpPr/>
          <p:nvPr/>
        </p:nvSpPr>
        <p:spPr>
          <a:xfrm>
            <a:off x="3063240" y="3840480"/>
            <a:ext cx="25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0"/>
          <p:cNvSpPr/>
          <p:nvPr/>
        </p:nvSpPr>
        <p:spPr>
          <a:xfrm>
            <a:off x="3319200" y="2468880"/>
            <a:ext cx="2514240" cy="3108600"/>
          </a:xfrm>
          <a:prstGeom prst="roundRect">
            <a:avLst>
              <a:gd name="adj" fmla="val 3636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1"/>
          <p:cNvSpPr/>
          <p:nvPr/>
        </p:nvSpPr>
        <p:spPr>
          <a:xfrm>
            <a:off x="4284000" y="2788920"/>
            <a:ext cx="585000" cy="58500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2"/>
          <p:cNvSpPr/>
          <p:nvPr/>
        </p:nvSpPr>
        <p:spPr>
          <a:xfrm>
            <a:off x="4284000" y="2788920"/>
            <a:ext cx="585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6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3"/>
          <p:cNvSpPr/>
          <p:nvPr/>
        </p:nvSpPr>
        <p:spPr>
          <a:xfrm>
            <a:off x="3456360" y="361188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Stay Consistent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4"/>
          <p:cNvSpPr/>
          <p:nvPr/>
        </p:nvSpPr>
        <p:spPr>
          <a:xfrm>
            <a:off x="3502080" y="4160520"/>
            <a:ext cx="2148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Scheduling, reminders &amp; gamification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5"/>
          <p:cNvSpPr/>
          <p:nvPr/>
        </p:nvSpPr>
        <p:spPr>
          <a:xfrm>
            <a:off x="5833800" y="3840480"/>
            <a:ext cx="25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6"/>
          <p:cNvSpPr/>
          <p:nvPr/>
        </p:nvSpPr>
        <p:spPr>
          <a:xfrm>
            <a:off x="6089760" y="2468880"/>
            <a:ext cx="2514240" cy="3108600"/>
          </a:xfrm>
          <a:prstGeom prst="roundRect">
            <a:avLst>
              <a:gd name="adj" fmla="val 3636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17"/>
          <p:cNvSpPr/>
          <p:nvPr/>
        </p:nvSpPr>
        <p:spPr>
          <a:xfrm>
            <a:off x="7054560" y="2788920"/>
            <a:ext cx="585000" cy="58500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8"/>
          <p:cNvSpPr/>
          <p:nvPr/>
        </p:nvSpPr>
        <p:spPr>
          <a:xfrm>
            <a:off x="7054560" y="2788920"/>
            <a:ext cx="585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6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9"/>
          <p:cNvSpPr/>
          <p:nvPr/>
        </p:nvSpPr>
        <p:spPr>
          <a:xfrm>
            <a:off x="6226920" y="361188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Get Ready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20"/>
          <p:cNvSpPr/>
          <p:nvPr/>
        </p:nvSpPr>
        <p:spPr>
          <a:xfrm>
            <a:off x="6272640" y="4160520"/>
            <a:ext cx="2148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ATS evaluation &amp; job matching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1"/>
          <p:cNvSpPr/>
          <p:nvPr/>
        </p:nvSpPr>
        <p:spPr>
          <a:xfrm>
            <a:off x="8604360" y="3840480"/>
            <a:ext cx="25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22"/>
          <p:cNvSpPr/>
          <p:nvPr/>
        </p:nvSpPr>
        <p:spPr>
          <a:xfrm>
            <a:off x="8860680" y="2468880"/>
            <a:ext cx="2514240" cy="3108600"/>
          </a:xfrm>
          <a:prstGeom prst="roundRect">
            <a:avLst>
              <a:gd name="adj" fmla="val 3636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23"/>
          <p:cNvSpPr/>
          <p:nvPr/>
        </p:nvSpPr>
        <p:spPr>
          <a:xfrm>
            <a:off x="9825120" y="2788920"/>
            <a:ext cx="585000" cy="585000"/>
          </a:xfrm>
          <a:prstGeom prst="ellipse">
            <a:avLst/>
          </a:prstGeom>
          <a:solidFill>
            <a:srgbClr val="2B7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4"/>
          <p:cNvSpPr/>
          <p:nvPr/>
        </p:nvSpPr>
        <p:spPr>
          <a:xfrm>
            <a:off x="9825120" y="2788920"/>
            <a:ext cx="5850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6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25"/>
          <p:cNvSpPr/>
          <p:nvPr/>
        </p:nvSpPr>
        <p:spPr>
          <a:xfrm>
            <a:off x="8997840" y="361188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Succeed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26"/>
          <p:cNvSpPr/>
          <p:nvPr/>
        </p:nvSpPr>
        <p:spPr>
          <a:xfrm>
            <a:off x="9043560" y="4160520"/>
            <a:ext cx="2148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AI interview practice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7"/>
          <p:cNvSpPr/>
          <p:nvPr/>
        </p:nvSpPr>
        <p:spPr>
          <a:xfrm>
            <a:off x="54864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8"/>
          <p:cNvSpPr/>
          <p:nvPr/>
        </p:nvSpPr>
        <p:spPr>
          <a:xfrm>
            <a:off x="1109448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ext 0"/>
          <p:cNvSpPr/>
          <p:nvPr/>
        </p:nvSpPr>
        <p:spPr>
          <a:xfrm>
            <a:off x="822960" y="182880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Career</a:t>
            </a:r>
            <a:r>
              <a:rPr lang="en-US" sz="4800" b="1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GPS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"/>
          <p:cNvSpPr/>
          <p:nvPr/>
        </p:nvSpPr>
        <p:spPr>
          <a:xfrm>
            <a:off x="822960" y="27889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From learning to landing the job.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2"/>
          <p:cNvSpPr/>
          <p:nvPr/>
        </p:nvSpPr>
        <p:spPr>
          <a:xfrm>
            <a:off x="822960" y="3657600"/>
            <a:ext cx="1737000" cy="502560"/>
          </a:xfrm>
          <a:prstGeom prst="roundRect">
            <a:avLst>
              <a:gd name="adj" fmla="val 18182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3"/>
          <p:cNvSpPr/>
          <p:nvPr/>
        </p:nvSpPr>
        <p:spPr>
          <a:xfrm>
            <a:off x="822960" y="365760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Analyze.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4"/>
          <p:cNvSpPr/>
          <p:nvPr/>
        </p:nvSpPr>
        <p:spPr>
          <a:xfrm>
            <a:off x="2697480" y="3657600"/>
            <a:ext cx="1737000" cy="502560"/>
          </a:xfrm>
          <a:prstGeom prst="roundRect">
            <a:avLst>
              <a:gd name="adj" fmla="val 18182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5"/>
          <p:cNvSpPr/>
          <p:nvPr/>
        </p:nvSpPr>
        <p:spPr>
          <a:xfrm>
            <a:off x="2697480" y="365760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Plan.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6"/>
          <p:cNvSpPr/>
          <p:nvPr/>
        </p:nvSpPr>
        <p:spPr>
          <a:xfrm>
            <a:off x="4572000" y="3657600"/>
            <a:ext cx="1737000" cy="502560"/>
          </a:xfrm>
          <a:prstGeom prst="roundRect">
            <a:avLst>
              <a:gd name="adj" fmla="val 18182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7"/>
          <p:cNvSpPr/>
          <p:nvPr/>
        </p:nvSpPr>
        <p:spPr>
          <a:xfrm>
            <a:off x="4572000" y="365760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Learn.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8"/>
          <p:cNvSpPr/>
          <p:nvPr/>
        </p:nvSpPr>
        <p:spPr>
          <a:xfrm>
            <a:off x="6446520" y="3657600"/>
            <a:ext cx="1737000" cy="502560"/>
          </a:xfrm>
          <a:prstGeom prst="roundRect">
            <a:avLst>
              <a:gd name="adj" fmla="val 18182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9"/>
          <p:cNvSpPr/>
          <p:nvPr/>
        </p:nvSpPr>
        <p:spPr>
          <a:xfrm>
            <a:off x="6446520" y="365760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Improve.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0"/>
          <p:cNvSpPr/>
          <p:nvPr/>
        </p:nvSpPr>
        <p:spPr>
          <a:xfrm>
            <a:off x="8321040" y="3657600"/>
            <a:ext cx="1737000" cy="502560"/>
          </a:xfrm>
          <a:prstGeom prst="roundRect">
            <a:avLst>
              <a:gd name="adj" fmla="val 18182"/>
            </a:avLst>
          </a:prstGeom>
          <a:solidFill>
            <a:srgbClr val="161616"/>
          </a:solidFill>
          <a:ln w="12700">
            <a:solidFill>
              <a:srgbClr val="292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1"/>
          <p:cNvSpPr/>
          <p:nvPr/>
        </p:nvSpPr>
        <p:spPr>
          <a:xfrm>
            <a:off x="8321040" y="365760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Get Hired.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2"/>
          <p:cNvSpPr/>
          <p:nvPr/>
        </p:nvSpPr>
        <p:spPr>
          <a:xfrm>
            <a:off x="822960" y="45720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2B7FFF"/>
                </a:solidFill>
                <a:effectLst/>
                <a:uFillTx/>
                <a:latin typeface="Arial"/>
                <a:ea typeface="Arial"/>
              </a:rPr>
              <a:t>Your AI career companion for every step of the journey.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3"/>
          <p:cNvSpPr/>
          <p:nvPr/>
        </p:nvSpPr>
        <p:spPr>
          <a:xfrm>
            <a:off x="548640" y="6355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CareerGPS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4"/>
          <p:cNvSpPr/>
          <p:nvPr/>
        </p:nvSpPr>
        <p:spPr>
          <a:xfrm>
            <a:off x="1109448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3A3A3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Application>LibreOffice/26.2.1.2$Windows_X86_64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2026-07-14T15:04:47Z</dcterms:created>
  <dc:creator>PptxGenJS</dc:creator>
  <dc:description/>
  <dc:language>en-US</dc:language>
  <cp:lastModifiedBy/>
  <dcterms:modified xsi:type="dcterms:W3CDTF">2026-07-14T19:56:34Z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